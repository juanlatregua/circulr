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Facturación (€)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3C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Mes 3</c:v>
                  </c:pt>
                  <c:pt idx="1">
                    <c:v>Mes 6</c:v>
                  </c:pt>
                  <c:pt idx="2">
                    <c:v>Mes 9</c:v>
                  </c:pt>
                  <c:pt idx="3">
                    <c:v>Mes 12</c:v>
                  </c:pt>
                  <c:pt idx="4">
                    <c:v>Año 2</c:v>
                  </c:pt>
                  <c:pt idx="5">
                    <c:v>Año 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9000</c:v>
                </c:pt>
                <c:pt idx="1">
                  <c:v>24000</c:v>
                </c:pt>
                <c:pt idx="2">
                  <c:v>52000</c:v>
                </c:pt>
                <c:pt idx="3">
                  <c:v>120000</c:v>
                </c:pt>
                <c:pt idx="4">
                  <c:v>220000</c:v>
                </c:pt>
                <c:pt idx="5">
                  <c:v>380000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3C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82880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38328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0" y="27432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182880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338328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27432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182880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338328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27432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82880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338328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27432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182880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3383280"/>
            <a:ext cx="548640" cy="54864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CircularLab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5720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consultoría subvencionada al negocio real.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32004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estratégico 2025–2027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27432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Isabelle — Economía Circular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749040"/>
            <a:ext cx="27432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3756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— Biología Marina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749040"/>
            <a:ext cx="27432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— Producto Digital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trampa de la consultoría subvencionada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45920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92024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697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subvención,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hay cliente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3474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empresas no perciben el valor real. Solo pagan si alguien (FUNDAE) paga por ellos.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6459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645920"/>
            <a:ext cx="27432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92024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697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Informes que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nadie implementa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83280" y="3474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 un diagnóstico. La empresa lo archiva. No hay ROI visible ni seguimiento.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0760" y="16459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645920"/>
            <a:ext cx="2743200" cy="640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920240"/>
            <a:ext cx="68580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697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Posición marginal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el mercado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3474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producto propio. Sin diferenciación. Riesgo de quedar obsoletos cuando cambie la regulación.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empresas pagan cuando el dolor es real e inmediato.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783080"/>
            <a:ext cx="8503920" cy="841248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783080"/>
            <a:ext cx="54864" cy="8412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o incumplimiento normativo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18541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de Residuos 7/2022 ya está en vigor. Muchas PYME incumplen sin saberlo. El dolor: inspección, multa, pérdida de homologación.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8503920" cy="841248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788920"/>
            <a:ext cx="54864" cy="8412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88720" y="2834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grande exige cumplimiento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19125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Mercadona, Inditex, Acciona... trasladan su CSRD a sus proveedores PYME. Si no rellenan el cuestionario, pierden el contrato.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794760"/>
            <a:ext cx="8503920" cy="841248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794760"/>
            <a:ext cx="54864" cy="8412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88720" y="3840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operativo que duele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19709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Energía, agua, gestión de residuos. Después de 2022, las facturas no mienten. La CE como eficiencia real, no como marketing.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DE VALOR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23444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1234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8138160" cy="12344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"Tu cliente grande te acaba de mandar un cuestionario de sostenibilidad.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no lo respondes, pierdes el contrato. Nosotros lo resolvemos en 3 semanas."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19456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94560"/>
            <a:ext cx="274320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PAGA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2724912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 proveedora de gran empresa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industrial y agroalimentario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con inspección prevista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sector con cliente CSRD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9456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194560"/>
            <a:ext cx="2743200" cy="41148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PAGA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2724912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 perder un contrato clave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evitar multa o sanción regulatoria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reducir costes operativos reales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visible en semanas, no en meses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19456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194560"/>
            <a:ext cx="274320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PAGA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45352" y="2724912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urgente: 2.000–4.000€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CSRD completo: 3.000–6.000€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mensual: 2.000–4.000€/mes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subvención. Sin condicionantes.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trinomio que nadie más tiene en España.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7432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7632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Circular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51460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CE, VIU 2024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metodológico 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CSRD y normativa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y hoja de ruta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5087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508760"/>
            <a:ext cx="2743200" cy="9144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27632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336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Miguel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023360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 Marina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83280" y="251460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Biólogo marino senior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azul y acuicultura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Valorización subproductos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Ecosistemas y bio-indicadores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15087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508760"/>
            <a:ext cx="2743200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27632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(tú)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903720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Digital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263640" y="251460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producto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+ automatización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diagnóstico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y plataforma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INMEDIATO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 de respuesta CSRD para proveedores PYME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384048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642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60020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 recibe cuestionario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 cliente grande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005840" y="2130552"/>
            <a:ext cx="4572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2221992"/>
            <a:ext cx="3840480" cy="530352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22199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analiza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automáticamente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005840" y="2752344"/>
            <a:ext cx="4572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2843784"/>
            <a:ext cx="384048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0779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84378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genera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de respuestas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1005840" y="3374136"/>
            <a:ext cx="4572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74320" y="3465576"/>
            <a:ext cx="3840480" cy="530352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29584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46557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Isabelle/Miguel validan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personalizan (30%)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1005840" y="3995928"/>
            <a:ext cx="4572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74320" y="4087368"/>
            <a:ext cx="384048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151376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408736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en 3 semanas.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mantiene contrato.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663440" y="1508760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663440" y="1508760"/>
            <a:ext cx="416052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663440" y="16459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del servicio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846320" y="2240280"/>
            <a:ext cx="3794760" cy="658368"/>
          </a:xfrm>
          <a:prstGeom prst="rect">
            <a:avLst/>
          </a:prstGeom>
          <a:solidFill>
            <a:srgbClr val="F8F5EE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846320" y="22768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semanas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4846320" y="25877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entrega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46320" y="3017520"/>
            <a:ext cx="3794760" cy="658368"/>
          </a:xfrm>
          <a:prstGeom prst="rect">
            <a:avLst/>
          </a:prstGeom>
          <a:solidFill>
            <a:srgbClr val="F8F5EE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846320" y="305409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4846320" y="33649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 con IA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846320" y="3794760"/>
            <a:ext cx="3794760" cy="658368"/>
          </a:xfrm>
          <a:prstGeom prst="rect">
            <a:avLst/>
          </a:prstGeom>
          <a:solidFill>
            <a:srgbClr val="F8F5EE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846320" y="38313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2.000–6.000€</a:t>
            </a:r>
            <a:endParaRPr lang="en-US" sz="2200" dirty="0"/>
          </a:p>
        </p:txBody>
      </p:sp>
      <p:sp>
        <p:nvSpPr>
          <p:cNvPr id="35" name="Text 28"/>
          <p:cNvSpPr/>
          <p:nvPr/>
        </p:nvSpPr>
        <p:spPr>
          <a:xfrm>
            <a:off x="4846320" y="41422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por proyecto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846320" y="4572000"/>
            <a:ext cx="3794760" cy="658368"/>
          </a:xfrm>
          <a:prstGeom prst="rect">
            <a:avLst/>
          </a:prstGeom>
          <a:solidFill>
            <a:srgbClr val="F8F5EE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846320" y="460857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&gt;85%</a:t>
            </a:r>
            <a:endParaRPr lang="en-US" sz="2200" dirty="0"/>
          </a:p>
        </p:txBody>
      </p:sp>
      <p:sp>
        <p:nvSpPr>
          <p:cNvPr id="38" name="Text 31"/>
          <p:cNvSpPr/>
          <p:nvPr/>
        </p:nvSpPr>
        <p:spPr>
          <a:xfrm>
            <a:off x="4846320" y="49194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 estimado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primer cliente al negocio escalable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84124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709928"/>
            <a:ext cx="347472" cy="3474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1-3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1965960" cy="274320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03120"/>
            <a:ext cx="196596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031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clientes piloto CSRD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comercial std.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herramienta digital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caso de éxito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1709928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3-6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2103120"/>
            <a:ext cx="1965960" cy="274320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2103120"/>
            <a:ext cx="196596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1031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6060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lanzada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diagnósticos pagados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Miguel: nicho marino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autoridad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15000" y="1709928"/>
            <a:ext cx="347472" cy="34747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6-12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103120"/>
            <a:ext cx="1965960" cy="274320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2103120"/>
            <a:ext cx="196596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031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6060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clientes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gestorías/bancos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FUNDAE propia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150K€ facturación año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01000" y="1709928"/>
            <a:ext cx="347472" cy="347472"/>
          </a:xfrm>
          <a:prstGeom prst="ellipse">
            <a:avLst/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2-3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2103120"/>
            <a:ext cx="1965960" cy="274320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F8F5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2103120"/>
            <a:ext cx="1965960" cy="384048"/>
          </a:xfrm>
          <a:prstGeom prst="rect">
            <a:avLst/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21031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26060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diagnóstico CE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residuos B2B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sectorial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300K€+ objetivo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77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97764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 — AÑO 1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45336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Cuestionarios CSRD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3.000–6.000€ / proyecto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5000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313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CE urgente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0584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2.000–4.000€ / empresa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546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1181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implementación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05840" y="3438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2.000–4.000€ / mes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59352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39227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FUNDAE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05840" y="4242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3.000–8.000€ / empresa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892040" y="777240"/>
            <a:ext cx="3977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892040" y="777240"/>
            <a:ext cx="3977640" cy="4572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892040" y="777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 — AÑO 2-3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545336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2356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diagnóstico CE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62356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99–299€/informe · escalable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350008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623560" y="2313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residuos B2B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623560" y="2633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plataforma</a:t>
            </a:r>
            <a:endParaRPr lang="en-US" sz="11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154680"/>
            <a:ext cx="411480" cy="4114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623560" y="31181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ESG continuo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5623560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anual PYME</a:t>
            </a:r>
            <a:endParaRPr lang="en-US" sz="11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959352"/>
            <a:ext cx="411480" cy="41148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623560" y="39227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a consultoras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5623560" y="4242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white-label</a:t>
            </a:r>
            <a:endParaRPr lang="en-US" sz="11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5968" y="25603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FINANCIERA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2296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822960"/>
            <a:ext cx="54864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886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9.000€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893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mes 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89320" y="1481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clientes piloto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182880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1828800"/>
            <a:ext cx="54864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8928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120K€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98932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año 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89320" y="2487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proyectos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283464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2834640"/>
            <a:ext cx="54864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98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380K€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98932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año 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89320" y="3493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+ consultoría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52160" y="384048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52160" y="3840480"/>
            <a:ext cx="54864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3904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&gt;70%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989320" y="4297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89320" y="44988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digital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sucede en las próximas 72 horas.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8503920" cy="749808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08760"/>
            <a:ext cx="54864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1709928"/>
            <a:ext cx="1005840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1709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103120" y="1572768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5 clientes actuales o pasados de FUNDAE que tengan un cuestionario CSRD pendiente o proveedores de empresa grande.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" y="2377440"/>
            <a:ext cx="8503920" cy="749808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D4A017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2377440"/>
            <a:ext cx="54864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36576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60120" y="2578608"/>
            <a:ext cx="1005840" cy="32918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25786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103120" y="2441448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3 contactos en acuicultura o industria pesquera que estén bajo presión regulatoria o de certificación ambiental.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20040" y="3246120"/>
            <a:ext cx="8503920" cy="749808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F8F5EE">
                <a:alpha val="5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3246120"/>
            <a:ext cx="54864" cy="749808"/>
          </a:xfrm>
          <a:prstGeom prst="rect">
            <a:avLst/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365760" cy="3657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60120" y="3447288"/>
            <a:ext cx="1005840" cy="329184"/>
          </a:xfrm>
          <a:prstGeom prst="rect">
            <a:avLst/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60120" y="34472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103120" y="3310128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arquitectura del MVP: formulario → Claude API → informe PDF. Tiempo estimado de build: 3-4 semanas. Empieza el stack.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320040" y="4114800"/>
            <a:ext cx="8503920" cy="749808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D4A017">
                <a:alpha val="5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20040" y="4114800"/>
            <a:ext cx="54864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97680"/>
            <a:ext cx="365760" cy="36576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60120" y="4315968"/>
            <a:ext cx="1005840" cy="32918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60120" y="43159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2103120" y="4178808"/>
            <a:ext cx="6492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90 minutos para validar ICP, definir el primer servicio que se va a ofrecer y alinear el pitch de venta.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822960" cy="82296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657600"/>
            <a:ext cx="822960" cy="82296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3200400"/>
            <a:ext cx="822960" cy="82296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3657600"/>
            <a:ext cx="822960" cy="82296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4864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economía circular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un argumento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negocio.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718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 coste. No una obligación. Una ventaja competitiva real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empresas que quieran seguir en el mercado.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CircularLab — 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CircularLab — Plan de Negocio</dc:title>
  <dc:subject>PptxGenJS Presentation</dc:subject>
  <dc:creator>PptxGenJS</dc:creator>
  <cp:lastModifiedBy>PptxGenJS</cp:lastModifiedBy>
  <cp:revision>1</cp:revision>
  <dcterms:created xsi:type="dcterms:W3CDTF">2026-03-11T18:22:51Z</dcterms:created>
  <dcterms:modified xsi:type="dcterms:W3CDTF">2026-03-11T18:22:51Z</dcterms:modified>
</cp:coreProperties>
</file>