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Facturación (€)</c:v>
                </c:pt>
              </c:strCache>
            </c:strRef>
          </c:tx>
          <c:spPr>
            <a:solidFill>
              <a:srgbClr val="FD692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D692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D692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CC3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F7E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6BDE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6BDE2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Mes 3</c:v>
                  </c:pt>
                  <c:pt idx="1">
                    <c:v>Mes 6</c:v>
                  </c:pt>
                  <c:pt idx="2">
                    <c:v>Mes 9</c:v>
                  </c:pt>
                  <c:pt idx="3">
                    <c:v>Mes 12</c:v>
                  </c:pt>
                  <c:pt idx="4">
                    <c:v>Año 2</c:v>
                  </c:pt>
                  <c:pt idx="5">
                    <c:v>Año 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9000</c:v>
                </c:pt>
                <c:pt idx="1">
                  <c:v>24000</c:v>
                </c:pt>
                <c:pt idx="2">
                  <c:v>52000</c:v>
                </c:pt>
                <c:pt idx="3">
                  <c:v>120000</c:v>
                </c:pt>
                <c:pt idx="4">
                  <c:v>220000</c:v>
                </c:pt>
                <c:pt idx="5">
                  <c:v>380000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796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8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4A9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DF0"/>
        </a:solidFill>
        <a:ln>
          <a:noFill/>
        </a:ln>
        <a:effectLst/>
      </c:spPr>
    </c:plotArea>
    <c:plotVisOnly val="1"/>
    <c:dispBlanksAs val="span"/>
  </c:chart>
  <c:spPr>
    <a:solidFill>
      <a:srgbClr val="FFFDF0"/>
    </a:solidFill>
    <a:ln w="12700" cap="flat">
      <a:solidFill>
        <a:srgbClr val="FFFDF0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5029200" cy="5029200"/>
          </a:xfrm>
          <a:prstGeom prst="ellipse">
            <a:avLst/>
          </a:prstGeom>
          <a:solidFill>
            <a:srgbClr val="FD6925">
              <a:alpha val="18000"/>
            </a:srgbClr>
          </a:solidFill>
          <a:ln w="12700">
            <a:solidFill>
              <a:srgbClr val="FD692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743200"/>
            <a:ext cx="4114800" cy="4114800"/>
          </a:xfrm>
          <a:prstGeom prst="ellipse">
            <a:avLst/>
          </a:prstGeom>
          <a:solidFill>
            <a:srgbClr val="26BDE2">
              <a:alpha val="22000"/>
            </a:srgbClr>
          </a:solidFill>
          <a:ln w="12700">
            <a:solidFill>
              <a:srgbClr val="26BD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731520"/>
            <a:ext cx="2560320" cy="2560320"/>
          </a:xfrm>
          <a:prstGeom prst="ellipse">
            <a:avLst/>
          </a:prstGeom>
          <a:solidFill>
            <a:srgbClr val="FCC30B">
              <a:alpha val="28000"/>
            </a:srgbClr>
          </a:solidFill>
          <a:ln w="12700">
            <a:solidFill>
              <a:srgbClr val="FCC30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657600"/>
            <a:ext cx="2011680" cy="2011680"/>
          </a:xfrm>
          <a:prstGeom prst="ellipse">
            <a:avLst/>
          </a:prstGeom>
          <a:solidFill>
            <a:srgbClr val="56C02B">
              <a:alpha val="25000"/>
            </a:srgbClr>
          </a:solidFill>
          <a:ln w="12700">
            <a:solidFill>
              <a:srgbClr val="56C02B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4297680" cy="9966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160020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consultoría
</a:t>
            </a:r>
            <a:pPr algn="l" indent="0" marL="0">
              <a:buNone/>
            </a:pPr>
            <a:r>
              <a:rPr lang="en-US" sz="4000" b="1" dirty="0">
                <a:solidFill>
                  <a:srgbClr val="FD69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subvencionada
</a:t>
            </a:r>
            <a:pPr algn="l" indent="0" marL="0">
              <a:buNone/>
            </a:pPr>
            <a:r>
              <a:rPr lang="en-US" sz="4000" b="1" dirty="0">
                <a:solidFill>
                  <a:srgbClr val="3F7E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negocio real.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594360" y="4407408"/>
            <a:ext cx="1280160" cy="64008"/>
          </a:xfrm>
          <a:prstGeom prst="rect">
            <a:avLst/>
          </a:prstGeom>
          <a:solidFill>
            <a:srgbClr val="FD6925"/>
          </a:solidFill>
          <a:ln w="12700">
            <a:solidFill>
              <a:srgbClr val="FD6925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45262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estratégico 2026–2028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12280" y="1463040"/>
            <a:ext cx="205740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3F7E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12280" y="1463040"/>
            <a:ext cx="64008" cy="804672"/>
          </a:xfrm>
          <a:prstGeom prst="rect">
            <a:avLst/>
          </a:prstGeom>
          <a:solidFill>
            <a:srgbClr val="3F7E44"/>
          </a:solidFill>
          <a:ln w="12700">
            <a:solidFill>
              <a:srgbClr val="3F7E44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31152" y="1554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7E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ISABELLE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931152" y="18470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Economía Circular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812280" y="2487168"/>
            <a:ext cx="205740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26BDE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12280" y="2487168"/>
            <a:ext cx="64008" cy="804672"/>
          </a:xfrm>
          <a:prstGeom prst="rect">
            <a:avLst/>
          </a:prstGeom>
          <a:solidFill>
            <a:srgbClr val="26BDE2"/>
          </a:solidFill>
          <a:ln w="12700">
            <a:solidFill>
              <a:srgbClr val="26BDE2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31152" y="2578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6BD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MIGUEL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931152" y="28712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Biología Marina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12280" y="3511296"/>
            <a:ext cx="205740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FD692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12280" y="3511296"/>
            <a:ext cx="64008" cy="804672"/>
          </a:xfrm>
          <a:prstGeom prst="rect">
            <a:avLst/>
          </a:prstGeom>
          <a:solidFill>
            <a:srgbClr val="FD6925"/>
          </a:solidFill>
          <a:ln w="12700">
            <a:solidFill>
              <a:srgbClr val="FD6925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31152" y="36027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D69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931152" y="38953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Digital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D6925"/>
          </a:solidFill>
          <a:ln w="12700">
            <a:solidFill>
              <a:srgbClr val="FD69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D69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21208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trampa de la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consultoría subvencionada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97480" cy="2880360"/>
          </a:xfrm>
          <a:prstGeom prst="rect">
            <a:avLst/>
          </a:prstGeom>
          <a:solidFill>
            <a:srgbClr val="FFF3EE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74520"/>
            <a:ext cx="2697480" cy="91440"/>
          </a:xfrm>
          <a:prstGeom prst="rect">
            <a:avLst/>
          </a:prstGeom>
          <a:solidFill>
            <a:srgbClr val="FD6925"/>
          </a:solidFill>
          <a:ln w="12700">
            <a:solidFill>
              <a:srgbClr val="FD692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57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subvención,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hay cliente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438144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empresas no perciben el valor real. Solo pagan si alguien (FUNDAE) paga por ellos.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1874520"/>
            <a:ext cx="2697480" cy="2880360"/>
          </a:xfrm>
          <a:prstGeom prst="rect">
            <a:avLst/>
          </a:prstGeom>
          <a:solidFill>
            <a:srgbClr val="FFFBEB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874520"/>
            <a:ext cx="2697480" cy="91440"/>
          </a:xfrm>
          <a:prstGeom prst="rect">
            <a:avLst/>
          </a:prstGeom>
          <a:solidFill>
            <a:srgbClr val="FCC30B"/>
          </a:solidFill>
          <a:ln w="12700">
            <a:solidFill>
              <a:srgbClr val="FCC3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057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📁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20440" y="26974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Informes que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nadie implementa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3438144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entrega un diagnóstico. La empresa lo archiva. No hay ROI visible ni seguimiento.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2697480" cy="2880360"/>
          </a:xfrm>
          <a:prstGeom prst="rect">
            <a:avLst/>
          </a:prstGeom>
          <a:solidFill>
            <a:srgbClr val="F0FA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874520"/>
            <a:ext cx="2697480" cy="91440"/>
          </a:xfrm>
          <a:prstGeom prst="rect">
            <a:avLst/>
          </a:prstGeom>
          <a:solidFill>
            <a:srgbClr val="3F7E44"/>
          </a:solidFill>
          <a:ln w="12700">
            <a:solidFill>
              <a:srgbClr val="3F7E4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057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0" y="26974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Posición marginal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el mercado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3438144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producto propio. Sin diferenciación. Riesgo de quedar obsoletos.</a:t>
            </a:r>
            <a:endParaRPr lang="en-US" sz="11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4736592"/>
            <a:ext cx="1600200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26BDE2">
              <a:alpha val="20000"/>
            </a:srgbClr>
          </a:solidFill>
          <a:ln w="12700">
            <a:solidFill>
              <a:srgbClr val="26BDE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56C02B">
              <a:alpha val="18000"/>
            </a:srgbClr>
          </a:solidFill>
          <a:ln w="12700">
            <a:solidFill>
              <a:srgbClr val="56C0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CC3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INSIGHT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576072"/>
            <a:ext cx="6858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empresas pagan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cuando el dolor es real.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594360" y="1938528"/>
            <a:ext cx="502920" cy="621792"/>
          </a:xfrm>
          <a:prstGeom prst="rect">
            <a:avLst/>
          </a:prstGeom>
          <a:solidFill>
            <a:srgbClr val="FD6925"/>
          </a:solidFill>
          <a:ln w="12700">
            <a:solidFill>
              <a:srgbClr val="FD692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1975104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Multa o incumplimiento normativo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2677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C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de Residuos 7/2022 en vigor. Muchas PYME incumplen sin saberlo. El dolor: inspección, multa, pérdida de homologación.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2852928"/>
            <a:ext cx="502920" cy="621792"/>
          </a:xfrm>
          <a:prstGeom prst="rect">
            <a:avLst/>
          </a:prstGeom>
          <a:solidFill>
            <a:srgbClr val="FCC30B"/>
          </a:solidFill>
          <a:ln w="12700">
            <a:solidFill>
              <a:srgbClr val="FCC3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926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2889504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Cliente grande exige cumplimiento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1821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C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Mercadona, Inditex, Acciona... trasladan su CSRD a proveedores PYME. Si no responden el cuestionario, pierden el contrato.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3767328"/>
            <a:ext cx="502920" cy="621792"/>
          </a:xfrm>
          <a:prstGeom prst="rect">
            <a:avLst/>
          </a:prstGeom>
          <a:solidFill>
            <a:srgbClr val="26BDE2"/>
          </a:solidFill>
          <a:ln w="12700">
            <a:solidFill>
              <a:srgbClr val="26BDE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40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34440" y="3803904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Coste operativo que duele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0965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C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Energía, agua, residuos. Después de 2022 las facturas no mienten. La CE como eficiencia real, no como marketing.</a:t>
            </a:r>
            <a:endParaRPr lang="en-US" sz="10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4736592"/>
            <a:ext cx="1600200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3F7E44"/>
          </a:solidFill>
          <a:ln w="12700">
            <a:solidFill>
              <a:srgbClr val="3F7E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F7E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PROPUESTA DE VALOR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12984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21792"/>
            <a:ext cx="91440" cy="1298448"/>
          </a:xfrm>
          <a:prstGeom prst="rect">
            <a:avLst/>
          </a:prstGeom>
          <a:solidFill>
            <a:srgbClr val="FD6925"/>
          </a:solidFill>
          <a:ln w="12700">
            <a:solidFill>
              <a:srgbClr val="FD692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749808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cliente grande te ha mandado un cuestionario de sostenibilidad.
</a:t>
            </a:r>
            <a:pPr indent="0" marL="0">
              <a:buNone/>
            </a:pPr>
            <a:r>
              <a:rPr lang="en-US" sz="1550" b="1" dirty="0">
                <a:solidFill>
                  <a:srgbClr val="FD69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lo respondes, pierdes el contrato. </a:t>
            </a:r>
            <a:pPr indent="0" marL="0">
              <a:buNone/>
            </a:pPr>
            <a:r>
              <a:rPr lang="en-US" sz="155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Nosotros lo resolvemos en </a:t>
            </a:r>
            <a:pPr indent="0" marL="0">
              <a:buNone/>
            </a:pPr>
            <a:r>
              <a:rPr lang="en-US" sz="1550" b="1" dirty="0">
                <a:solidFill>
                  <a:srgbClr val="FCC3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días.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2697480" cy="2788920"/>
          </a:xfrm>
          <a:prstGeom prst="rect">
            <a:avLst/>
          </a:prstGeom>
          <a:solidFill>
            <a:srgbClr val="FFF3EE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84832"/>
            <a:ext cx="2697480" cy="475488"/>
          </a:xfrm>
          <a:prstGeom prst="rect">
            <a:avLst/>
          </a:prstGeom>
          <a:solidFill>
            <a:srgbClr val="FD6925"/>
          </a:solidFill>
          <a:ln w="12700">
            <a:solidFill>
              <a:srgbClr val="FD692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21396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QUIÉN PAGA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" y="26883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D69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PYME proveedora de gran empresa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5216" y="32095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D69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industrial y agroalimentario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" y="37307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D69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con inspección prevista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5216" y="4251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D69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sector con cliente CSRD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2084832"/>
            <a:ext cx="2697480" cy="2788920"/>
          </a:xfrm>
          <a:prstGeom prst="rect">
            <a:avLst/>
          </a:prstGeom>
          <a:solidFill>
            <a:srgbClr val="F0FAF4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2084832"/>
            <a:ext cx="2697480" cy="475488"/>
          </a:xfrm>
          <a:prstGeom prst="rect">
            <a:avLst/>
          </a:prstGeom>
          <a:solidFill>
            <a:srgbClr val="3F7E44"/>
          </a:solidFill>
          <a:ln w="12700">
            <a:solidFill>
              <a:srgbClr val="3F7E4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65576" y="21396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QUÉ PAGA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65576" y="26883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7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no perder un contrato clave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65576" y="32095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7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evitar multa o sanción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65576" y="37307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7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reducir costes operativos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65576" y="4251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7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en semanas, no en meses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2084832"/>
            <a:ext cx="2697480" cy="2788920"/>
          </a:xfrm>
          <a:prstGeom prst="rect">
            <a:avLst/>
          </a:prstGeom>
          <a:solidFill>
            <a:srgbClr val="EBF8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2084832"/>
            <a:ext cx="2697480" cy="475488"/>
          </a:xfrm>
          <a:prstGeom prst="rect">
            <a:avLst/>
          </a:prstGeom>
          <a:solidFill>
            <a:srgbClr val="26BDE2"/>
          </a:solidFill>
          <a:ln w="12700">
            <a:solidFill>
              <a:srgbClr val="26BDE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21396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CUÁNTO PAGA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45936" y="26883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B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Comply: 2.500–4.000€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45936" y="32095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B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Audit: 4.500–6.000€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45936" y="37307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B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Shield: 1.500–2.000€/mes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45936" y="4251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B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subvención. Sin humo.</a:t>
            </a:r>
            <a:endParaRPr lang="en-US" sz="10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4736592"/>
            <a:ext cx="1600200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6BDE2">
              <a:alpha val="20000"/>
            </a:srgbClr>
          </a:solidFill>
          <a:ln w="12700">
            <a:solidFill>
              <a:srgbClr val="26BDE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56C02B">
              <a:alpha val="22000"/>
            </a:srgbClr>
          </a:solidFill>
          <a:ln w="12700">
            <a:solidFill>
              <a:srgbClr val="56C0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6BD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EQUIPO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6400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trinomio que nadie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más tiene en España.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697480" cy="3035808"/>
          </a:xfrm>
          <a:prstGeom prst="rect">
            <a:avLst/>
          </a:prstGeom>
          <a:solidFill>
            <a:srgbClr val="F0FAF4"/>
          </a:solidFill>
          <a:ln w="12700">
            <a:solidFill>
              <a:srgbClr val="D5E8D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99032" y="1993392"/>
            <a:ext cx="804672" cy="804672"/>
          </a:xfrm>
          <a:prstGeom prst="ellipse">
            <a:avLst/>
          </a:prstGeom>
          <a:solidFill>
            <a:srgbClr val="3F7E44">
              <a:alpha val="85000"/>
            </a:srgbClr>
          </a:solidFill>
          <a:ln w="12700">
            <a:solidFill>
              <a:srgbClr val="3F7E4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9032" y="2011680"/>
            <a:ext cx="804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🌿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85216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7E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ISABELLE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5216" y="3218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Economía Circular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3538728"/>
            <a:ext cx="2176272" cy="0"/>
          </a:xfrm>
          <a:prstGeom prst="line">
            <a:avLst/>
          </a:prstGeom>
          <a:noFill/>
          <a:ln w="12700">
            <a:solidFill>
              <a:srgbClr val="3F7E44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657600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7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CE · VIU 2024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3986784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7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ESRS E5 · CSRD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" y="4315968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7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y hoja de ruta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4645152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7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normativo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1874520"/>
            <a:ext cx="2697480" cy="3035808"/>
          </a:xfrm>
          <a:prstGeom prst="rect">
            <a:avLst/>
          </a:prstGeom>
          <a:solidFill>
            <a:srgbClr val="EBF8FF"/>
          </a:solidFill>
          <a:ln w="12700">
            <a:solidFill>
              <a:srgbClr val="D5E8D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79392" y="1993392"/>
            <a:ext cx="804672" cy="804672"/>
          </a:xfrm>
          <a:prstGeom prst="ellipse">
            <a:avLst/>
          </a:prstGeom>
          <a:solidFill>
            <a:srgbClr val="26BDE2">
              <a:alpha val="85000"/>
            </a:srgbClr>
          </a:solidFill>
          <a:ln w="12700">
            <a:solidFill>
              <a:srgbClr val="26BDE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9392" y="2011680"/>
            <a:ext cx="804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🌊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465576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BD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MIGUEL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65576" y="3218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Biología Marina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593592" y="3538728"/>
            <a:ext cx="2176272" cy="0"/>
          </a:xfrm>
          <a:prstGeom prst="line">
            <a:avLst/>
          </a:prstGeom>
          <a:noFill/>
          <a:ln w="12700">
            <a:solidFill>
              <a:srgbClr val="26BDE2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02152" y="3657600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B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Biólogo marino senior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02152" y="3986784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B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Economía azul y acuicultura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02152" y="4315968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B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Valorización subproductos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02152" y="4645152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B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Bio-indicadores ecosistemas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1874520"/>
            <a:ext cx="2697480" cy="3035808"/>
          </a:xfrm>
          <a:prstGeom prst="rect">
            <a:avLst/>
          </a:prstGeom>
          <a:solidFill>
            <a:srgbClr val="FFF3EE"/>
          </a:solidFill>
          <a:ln w="12700">
            <a:solidFill>
              <a:srgbClr val="D5E8D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59752" y="1993392"/>
            <a:ext cx="804672" cy="804672"/>
          </a:xfrm>
          <a:prstGeom prst="ellipse">
            <a:avLst/>
          </a:prstGeom>
          <a:solidFill>
            <a:srgbClr val="FD6925">
              <a:alpha val="85000"/>
            </a:srgbClr>
          </a:solidFill>
          <a:ln w="12700">
            <a:solidFill>
              <a:srgbClr val="FD692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9752" y="2011680"/>
            <a:ext cx="804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345936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D69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345936" y="3218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Digital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73952" y="3538728"/>
            <a:ext cx="2176272" cy="0"/>
          </a:xfrm>
          <a:prstGeom prst="line">
            <a:avLst/>
          </a:prstGeom>
          <a:noFill/>
          <a:ln w="12700">
            <a:solidFill>
              <a:srgbClr val="FD6925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3657600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69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Supabase · IA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82512" y="3986784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69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+ automatización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82512" y="4315968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69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generación ESG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82512" y="4645152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69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 y plataforma</a:t>
            </a:r>
            <a:endParaRPr lang="en-US" sz="10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4736592"/>
            <a:ext cx="1600200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26BDE2"/>
          </a:solidFill>
          <a:ln w="12700">
            <a:solidFill>
              <a:srgbClr val="26BDE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6BD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PRODUCTO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Tres servicios. Una máquina.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3383280"/>
          </a:xfrm>
          <a:prstGeom prst="rect">
            <a:avLst/>
          </a:prstGeom>
          <a:solidFill>
            <a:srgbClr val="FFF3EE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658368"/>
          </a:xfrm>
          <a:prstGeom prst="rect">
            <a:avLst/>
          </a:prstGeom>
          <a:solidFill>
            <a:srgbClr val="FD6925"/>
          </a:solidFill>
          <a:ln w="12700">
            <a:solidFill>
              <a:srgbClr val="FD692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63040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⚡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97280" y="148132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CIRQLR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97280" y="16824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21792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D69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2.500–4.000€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1792" y="2651760"/>
            <a:ext cx="1325880" cy="274320"/>
          </a:xfrm>
          <a:prstGeom prst="rect">
            <a:avLst/>
          </a:prstGeom>
          <a:solidFill>
            <a:srgbClr val="FD6925">
              <a:alpha val="25000"/>
            </a:srgbClr>
          </a:solidFill>
          <a:ln w="12700">
            <a:solidFill>
              <a:srgbClr val="FD692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5176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69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días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3017520"/>
            <a:ext cx="239572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Cuestionario CSRD/ESG respondido, verificado y listo para enviar al cliente grande.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1417320"/>
            <a:ext cx="2697480" cy="3383280"/>
          </a:xfrm>
          <a:prstGeom prst="rect">
            <a:avLst/>
          </a:prstGeom>
          <a:solidFill>
            <a:srgbClr val="F0FAF4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417320"/>
            <a:ext cx="2697480" cy="658368"/>
          </a:xfrm>
          <a:prstGeom prst="rect">
            <a:avLst/>
          </a:prstGeom>
          <a:solidFill>
            <a:srgbClr val="3F7E44"/>
          </a:solidFill>
          <a:ln w="12700">
            <a:solidFill>
              <a:srgbClr val="3F7E4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463040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🔍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3977640" y="148132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CIRQLR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77640" y="16824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502152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7E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4.500–6.000€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502152" y="2651760"/>
            <a:ext cx="1325880" cy="274320"/>
          </a:xfrm>
          <a:prstGeom prst="rect">
            <a:avLst/>
          </a:prstGeom>
          <a:solidFill>
            <a:srgbClr val="3F7E44">
              <a:alpha val="25000"/>
            </a:srgbClr>
          </a:solidFill>
          <a:ln w="12700">
            <a:solidFill>
              <a:srgbClr val="3F7E4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265176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7E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4–5 semanas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02152" y="3017520"/>
            <a:ext cx="239572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CE completo + mapa de residuos + gap normativo + hoja de ruta 12 meses.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417320"/>
            <a:ext cx="2697480" cy="3383280"/>
          </a:xfrm>
          <a:prstGeom prst="rect">
            <a:avLst/>
          </a:prstGeom>
          <a:solidFill>
            <a:srgbClr val="EBF8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417320"/>
            <a:ext cx="2697480" cy="658368"/>
          </a:xfrm>
          <a:prstGeom prst="rect">
            <a:avLst/>
          </a:prstGeom>
          <a:solidFill>
            <a:srgbClr val="26BDE2"/>
          </a:solidFill>
          <a:ln w="12700">
            <a:solidFill>
              <a:srgbClr val="26BDE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463040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🛡️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6858000" y="148132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CIRQLR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58000" y="16824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SHIELD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382512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BD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1.500–2.000€/mes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382512" y="2651760"/>
            <a:ext cx="1325880" cy="274320"/>
          </a:xfrm>
          <a:prstGeom prst="rect">
            <a:avLst/>
          </a:prstGeom>
          <a:solidFill>
            <a:srgbClr val="26BDE2">
              <a:alpha val="25000"/>
            </a:srgbClr>
          </a:solidFill>
          <a:ln w="12700">
            <a:solidFill>
              <a:srgbClr val="26BDE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65176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BD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Anual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82512" y="3017520"/>
            <a:ext cx="239572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Acompañamiento continuo: reporting ESG, KPIs, alertas normativas, soporte auditorías.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837176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C3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días </a:t>
            </a:r>
            <a:pPr indent="0" marL="0">
              <a:buNone/>
            </a:pPr>
            <a:r>
              <a:rPr lang="en-US" sz="1100" dirty="0">
                <a:solidFill>
                  <a:srgbClr val="84C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852928" y="4837176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C3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</a:t>
            </a:r>
            <a:pPr indent="0" marL="0">
              <a:buNone/>
            </a:pPr>
            <a:r>
              <a:rPr lang="en-US" sz="1100" dirty="0">
                <a:solidFill>
                  <a:srgbClr val="84C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IA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65776" y="4837176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C3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&gt;85% </a:t>
            </a:r>
            <a:pPr indent="0" marL="0">
              <a:buNone/>
            </a:pPr>
            <a:r>
              <a:rPr lang="en-US" sz="1100" dirty="0">
                <a:solidFill>
                  <a:srgbClr val="84C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bruto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278624" y="4837176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C3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</a:t>
            </a:r>
            <a:pPr indent="0" marL="0">
              <a:buNone/>
            </a:pPr>
            <a:r>
              <a:rPr lang="en-US" sz="1100" dirty="0">
                <a:solidFill>
                  <a:srgbClr val="84C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 para validar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26BDE2"/>
          </a:solidFill>
          <a:ln w="12700">
            <a:solidFill>
              <a:srgbClr val="26BDE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FCC30B">
              <a:alpha val="15000"/>
            </a:srgbClr>
          </a:solidFill>
          <a:ln w="12700">
            <a:solidFill>
              <a:srgbClr val="FCC30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6BD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 primer cliente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 negocio escalable.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2221992" y="3246120"/>
            <a:ext cx="338328" cy="0"/>
          </a:xfrm>
          <a:prstGeom prst="line">
            <a:avLst/>
          </a:prstGeom>
          <a:noFill/>
          <a:ln w="25400">
            <a:solidFill>
              <a:srgbClr val="FD6925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874520"/>
            <a:ext cx="1920240" cy="3063240"/>
          </a:xfrm>
          <a:prstGeom prst="rect">
            <a:avLst/>
          </a:prstGeom>
          <a:solidFill>
            <a:srgbClr val="FFF3EE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" y="1572768"/>
            <a:ext cx="1645920" cy="329184"/>
          </a:xfrm>
          <a:prstGeom prst="rect">
            <a:avLst/>
          </a:prstGeom>
          <a:solidFill>
            <a:srgbClr val="FD6925"/>
          </a:solidFill>
          <a:ln w="12700">
            <a:solidFill>
              <a:srgbClr val="FD692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819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 1–3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9659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D69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TRACCIÓN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2064" y="2404872"/>
            <a:ext cx="1591056" cy="0"/>
          </a:xfrm>
          <a:prstGeom prst="line">
            <a:avLst/>
          </a:prstGeom>
          <a:noFill/>
          <a:ln w="12700">
            <a:solidFill>
              <a:srgbClr val="FD6925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523744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69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clientes piloto CSRD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3054096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69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comercial std.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3584448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69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herramienta digital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4114800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69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caso de éxito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3246120"/>
            <a:ext cx="338328" cy="0"/>
          </a:xfrm>
          <a:prstGeom prst="line">
            <a:avLst/>
          </a:prstGeom>
          <a:noFill/>
          <a:ln w="25400">
            <a:solidFill>
              <a:srgbClr val="FCC30B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1874520"/>
            <a:ext cx="1920240" cy="3063240"/>
          </a:xfrm>
          <a:prstGeom prst="rect">
            <a:avLst/>
          </a:prstGeom>
          <a:solidFill>
            <a:srgbClr val="FFFBEB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97480" y="1572768"/>
            <a:ext cx="1645920" cy="329184"/>
          </a:xfrm>
          <a:prstGeom prst="rect">
            <a:avLst/>
          </a:prstGeom>
          <a:solidFill>
            <a:srgbClr val="FCC30B"/>
          </a:solidFill>
          <a:ln w="12700">
            <a:solidFill>
              <a:srgbClr val="FCC3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15819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 3–6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19659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C3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24912" y="2404872"/>
            <a:ext cx="1591056" cy="0"/>
          </a:xfrm>
          <a:prstGeom prst="line">
            <a:avLst/>
          </a:prstGeom>
          <a:noFill/>
          <a:ln w="12700">
            <a:solidFill>
              <a:srgbClr val="FCC30B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523744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C3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 lanzada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51760" y="3054096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C3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diagnósticos pagados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3584448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C3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Nicho marino (Miguel)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51760" y="4114800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C3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autoridad ESG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47688" y="3246120"/>
            <a:ext cx="338328" cy="0"/>
          </a:xfrm>
          <a:prstGeom prst="line">
            <a:avLst/>
          </a:prstGeom>
          <a:noFill/>
          <a:ln w="25400">
            <a:solidFill>
              <a:srgbClr val="3F7E44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73168" y="1874520"/>
            <a:ext cx="1920240" cy="3063240"/>
          </a:xfrm>
          <a:prstGeom prst="rect">
            <a:avLst/>
          </a:prstGeom>
          <a:solidFill>
            <a:srgbClr val="F0FAF4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10328" y="1572768"/>
            <a:ext cx="1645920" cy="329184"/>
          </a:xfrm>
          <a:prstGeom prst="rect">
            <a:avLst/>
          </a:prstGeom>
          <a:solidFill>
            <a:srgbClr val="3F7E44"/>
          </a:solidFill>
          <a:ln w="12700">
            <a:solidFill>
              <a:srgbClr val="3F7E4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0328" y="15819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 6–12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64608" y="19659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7E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ESCALA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37760" y="2404872"/>
            <a:ext cx="1591056" cy="0"/>
          </a:xfrm>
          <a:prstGeom prst="line">
            <a:avLst/>
          </a:prstGeom>
          <a:noFill/>
          <a:ln w="12700">
            <a:solidFill>
              <a:srgbClr val="3F7E44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2523744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7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clientes activos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64608" y="3054096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7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Alianzas gestorías/bancos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64608" y="3584448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7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Formación FUNDAE propia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64608" y="4114800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7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120K€ facturación año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86016" y="1874520"/>
            <a:ext cx="1920240" cy="3063240"/>
          </a:xfrm>
          <a:prstGeom prst="rect">
            <a:avLst/>
          </a:prstGeom>
          <a:solidFill>
            <a:srgbClr val="EBF8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23176" y="1572768"/>
            <a:ext cx="1645920" cy="329184"/>
          </a:xfrm>
          <a:prstGeom prst="rect">
            <a:avLst/>
          </a:prstGeom>
          <a:solidFill>
            <a:srgbClr val="26BDE2"/>
          </a:solidFill>
          <a:ln w="12700">
            <a:solidFill>
              <a:srgbClr val="26BDE2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23176" y="15819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AÑO 2–3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77456" y="19659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BD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PLATAFORMA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150608" y="2404872"/>
            <a:ext cx="1591056" cy="0"/>
          </a:xfrm>
          <a:prstGeom prst="line">
            <a:avLst/>
          </a:prstGeom>
          <a:noFill/>
          <a:ln w="12700">
            <a:solidFill>
              <a:srgbClr val="26BDE2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77456" y="2523744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B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diagnóstico CE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077456" y="3054096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B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residuos B2B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77456" y="3584448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B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 sectorial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77456" y="4114800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B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1A3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300K€+ objetivo</a:t>
            </a:r>
            <a:endParaRPr lang="en-US" sz="1000" dirty="0"/>
          </a:p>
        </p:txBody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4736592"/>
            <a:ext cx="1600200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CC30B"/>
          </a:solidFill>
          <a:ln w="12700">
            <a:solidFill>
              <a:srgbClr val="FCC3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DE NEGOCIO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D69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CORTO PLAZO — AÑO 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3749040" cy="685800"/>
          </a:xfrm>
          <a:prstGeom prst="rect">
            <a:avLst/>
          </a:prstGeom>
          <a:solidFill>
            <a:srgbClr val="FFF3EE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52144"/>
            <a:ext cx="64008" cy="685800"/>
          </a:xfrm>
          <a:prstGeom prst="rect">
            <a:avLst/>
          </a:prstGeom>
          <a:solidFill>
            <a:srgbClr val="FD6925"/>
          </a:solidFill>
          <a:ln w="12700">
            <a:solidFill>
              <a:srgbClr val="FD692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43584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24712" y="1207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Cuestionarios CSRD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4712" y="14996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69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3.000–6.000€ / proyecto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3749040" cy="685800"/>
          </a:xfrm>
          <a:prstGeom prst="rect">
            <a:avLst/>
          </a:prstGeom>
          <a:solidFill>
            <a:srgbClr val="F0FAF4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20824"/>
            <a:ext cx="64008" cy="685800"/>
          </a:xfrm>
          <a:prstGeom prst="rect">
            <a:avLst/>
          </a:prstGeom>
          <a:solidFill>
            <a:srgbClr val="3F7E44"/>
          </a:solidFill>
          <a:ln w="12700">
            <a:solidFill>
              <a:srgbClr val="3F7E4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12264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24712" y="2075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Diagnóstico CE urgente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4712" y="23682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7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2.000–4.000€ / empresa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89504"/>
            <a:ext cx="3749040" cy="685800"/>
          </a:xfrm>
          <a:prstGeom prst="rect">
            <a:avLst/>
          </a:prstGeom>
          <a:solidFill>
            <a:srgbClr val="EBF8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89504"/>
            <a:ext cx="64008" cy="685800"/>
          </a:xfrm>
          <a:prstGeom prst="rect">
            <a:avLst/>
          </a:prstGeom>
          <a:solidFill>
            <a:srgbClr val="26BDE2"/>
          </a:solidFill>
          <a:ln w="12700">
            <a:solidFill>
              <a:srgbClr val="26BDE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80944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🛠️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4712" y="2944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Consultoría implementación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4712" y="32369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B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2.000–4.000€ / mes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58184"/>
            <a:ext cx="3749040" cy="685800"/>
          </a:xfrm>
          <a:prstGeom prst="rect">
            <a:avLst/>
          </a:prstGeom>
          <a:solidFill>
            <a:srgbClr val="FFFBEB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758184"/>
            <a:ext cx="64008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49624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24712" y="3813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Formación FUNDAE propia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4712" y="41056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3.000–8.000€ / empresa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621792"/>
            <a:ext cx="0" cy="420624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6583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F7E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LARGO PLAZO — AÑO 2–3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1152144"/>
            <a:ext cx="3840480" cy="685800"/>
          </a:xfrm>
          <a:prstGeom prst="rect">
            <a:avLst/>
          </a:prstGeom>
          <a:solidFill>
            <a:srgbClr val="F0FAF4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1152144"/>
            <a:ext cx="64008" cy="685800"/>
          </a:xfrm>
          <a:prstGeom prst="rect">
            <a:avLst/>
          </a:prstGeom>
          <a:solidFill>
            <a:srgbClr val="3F7E44"/>
          </a:solidFill>
          <a:ln w="12700">
            <a:solidFill>
              <a:srgbClr val="3F7E4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92624" y="1243584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513832" y="1207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SaaS diagnóstico 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13832" y="14996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7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99–299€/informe · escalable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2020824"/>
            <a:ext cx="3840480" cy="685800"/>
          </a:xfrm>
          <a:prstGeom prst="rect">
            <a:avLst/>
          </a:prstGeom>
          <a:solidFill>
            <a:srgbClr val="EBF8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020824"/>
            <a:ext cx="64008" cy="685800"/>
          </a:xfrm>
          <a:prstGeom prst="rect">
            <a:avLst/>
          </a:prstGeom>
          <a:solidFill>
            <a:srgbClr val="26BDE2"/>
          </a:solidFill>
          <a:ln w="12700">
            <a:solidFill>
              <a:srgbClr val="26BDE2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92624" y="2112264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♻️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13832" y="2075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Matching residuos B2B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13832" y="23682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B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Suscripción plataforma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2889504"/>
            <a:ext cx="3840480" cy="685800"/>
          </a:xfrm>
          <a:prstGeom prst="rect">
            <a:avLst/>
          </a:prstGeom>
          <a:solidFill>
            <a:srgbClr val="EEF6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2889504"/>
            <a:ext cx="64008" cy="685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92624" y="2980944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513832" y="2944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Reporting ESG continuo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513832" y="32369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anual PYME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46320" y="3758184"/>
            <a:ext cx="3840480" cy="685800"/>
          </a:xfrm>
          <a:prstGeom prst="rect">
            <a:avLst/>
          </a:prstGeom>
          <a:solidFill>
            <a:srgbClr val="F0FFF4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46320" y="3758184"/>
            <a:ext cx="64008" cy="685800"/>
          </a:xfrm>
          <a:prstGeom prst="rect">
            <a:avLst/>
          </a:prstGeom>
          <a:solidFill>
            <a:srgbClr val="56C02B"/>
          </a:solidFill>
          <a:ln w="12700">
            <a:solidFill>
              <a:srgbClr val="56C02B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92624" y="3849624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513832" y="3813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Licencias a consultoras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513832" y="41056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C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white-label</a:t>
            </a:r>
            <a:endParaRPr lang="en-US" sz="1100" dirty="0"/>
          </a:p>
        </p:txBody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4736592"/>
            <a:ext cx="1600200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CC30B"/>
          </a:solidFill>
          <a:ln w="12700">
            <a:solidFill>
              <a:srgbClr val="FCC3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731520"/>
            <a:ext cx="3200400" cy="3200400"/>
          </a:xfrm>
          <a:prstGeom prst="ellipse">
            <a:avLst/>
          </a:prstGeom>
          <a:solidFill>
            <a:srgbClr val="26BDE2">
              <a:alpha val="14000"/>
            </a:srgbClr>
          </a:solidFill>
          <a:ln w="12700">
            <a:solidFill>
              <a:srgbClr val="26BDE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PROYECCIÓN FINANCIERA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Números sin humo.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335024"/>
            <a:ext cx="1965960" cy="1371600"/>
          </a:xfrm>
          <a:prstGeom prst="rect">
            <a:avLst/>
          </a:prstGeom>
          <a:solidFill>
            <a:srgbClr val="FFF3EE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35024"/>
            <a:ext cx="1965960" cy="73152"/>
          </a:xfrm>
          <a:prstGeom prst="rect">
            <a:avLst/>
          </a:prstGeom>
          <a:solidFill>
            <a:srgbClr val="FD6925"/>
          </a:solidFill>
          <a:ln w="12700">
            <a:solidFill>
              <a:srgbClr val="FD692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2646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69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9.000€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Facturación mes 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clientes piloto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78608" y="1335024"/>
            <a:ext cx="1965960" cy="1371600"/>
          </a:xfrm>
          <a:prstGeom prst="rect">
            <a:avLst/>
          </a:prstGeom>
          <a:solidFill>
            <a:srgbClr val="F0FAF4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78608" y="1335024"/>
            <a:ext cx="1965960" cy="73152"/>
          </a:xfrm>
          <a:prstGeom prst="rect">
            <a:avLst/>
          </a:prstGeom>
          <a:solidFill>
            <a:srgbClr val="3F7E44"/>
          </a:solidFill>
          <a:ln w="12700">
            <a:solidFill>
              <a:srgbClr val="3F7E4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0048" y="142646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7E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120K€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70048" y="19385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 año 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70048" y="2194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 proyectos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91456" y="1335024"/>
            <a:ext cx="1965960" cy="1371600"/>
          </a:xfrm>
          <a:prstGeom prst="rect">
            <a:avLst/>
          </a:prstGeom>
          <a:solidFill>
            <a:srgbClr val="EBF8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91456" y="1335024"/>
            <a:ext cx="1965960" cy="73152"/>
          </a:xfrm>
          <a:prstGeom prst="rect">
            <a:avLst/>
          </a:prstGeom>
          <a:solidFill>
            <a:srgbClr val="26BDE2"/>
          </a:solidFill>
          <a:ln w="12700">
            <a:solidFill>
              <a:srgbClr val="26BDE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142646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BD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380K€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882896" y="19385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 año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82896" y="2194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+ consultoría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04304" y="1335024"/>
            <a:ext cx="1965960" cy="1371600"/>
          </a:xfrm>
          <a:prstGeom prst="rect">
            <a:avLst/>
          </a:prstGeom>
          <a:solidFill>
            <a:srgbClr val="FFFBEB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04304" y="1335024"/>
            <a:ext cx="196596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95744" y="142646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&gt;70%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095744" y="19385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Margen bruto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95744" y="2194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digital</a:t>
            </a:r>
            <a:endParaRPr lang="en-US" sz="10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411480" y="2852928"/>
          <a:ext cx="83210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D6925"/>
          </a:solidFill>
          <a:ln w="12700">
            <a:solidFill>
              <a:srgbClr val="FD69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D69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PRÓXIMOS PASOS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sucede en las próximas 72 horas.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99032"/>
            <a:ext cx="3977640" cy="1463040"/>
          </a:xfrm>
          <a:prstGeom prst="rect">
            <a:avLst/>
          </a:prstGeom>
          <a:solidFill>
            <a:srgbClr val="F0FAF4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99032"/>
            <a:ext cx="73152" cy="1463040"/>
          </a:xfrm>
          <a:prstGeom prst="rect">
            <a:avLst/>
          </a:prstGeom>
          <a:solidFill>
            <a:srgbClr val="3F7E44"/>
          </a:solidFill>
          <a:ln w="12700">
            <a:solidFill>
              <a:srgbClr val="3F7E4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691640"/>
            <a:ext cx="658368" cy="658368"/>
          </a:xfrm>
          <a:prstGeom prst="ellipse">
            <a:avLst/>
          </a:prstGeom>
          <a:solidFill>
            <a:srgbClr val="3F7E44">
              <a:alpha val="25000"/>
            </a:srgbClr>
          </a:solidFill>
          <a:ln w="12700">
            <a:solidFill>
              <a:srgbClr val="3F7E4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🌿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08176" y="15270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7E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ISABELLE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08176" y="1837944"/>
            <a:ext cx="2907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5 clientes actuales o pasados de FUNDAE que tengan un cuestionario CSRD pendiente o sean proveedores de empresa grande.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399032"/>
            <a:ext cx="3977640" cy="1463040"/>
          </a:xfrm>
          <a:prstGeom prst="rect">
            <a:avLst/>
          </a:prstGeom>
          <a:solidFill>
            <a:srgbClr val="EBF8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399032"/>
            <a:ext cx="73152" cy="1463040"/>
          </a:xfrm>
          <a:prstGeom prst="rect">
            <a:avLst/>
          </a:prstGeom>
          <a:solidFill>
            <a:srgbClr val="26BDE2"/>
          </a:solidFill>
          <a:ln w="12700">
            <a:solidFill>
              <a:srgbClr val="26BDE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9472" y="1691640"/>
            <a:ext cx="658368" cy="658368"/>
          </a:xfrm>
          <a:prstGeom prst="ellipse">
            <a:avLst/>
          </a:prstGeom>
          <a:solidFill>
            <a:srgbClr val="26BDE2">
              <a:alpha val="25000"/>
            </a:srgbClr>
          </a:solidFill>
          <a:ln w="12700">
            <a:solidFill>
              <a:srgbClr val="26BDE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705856" y="15270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BD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MIGUEL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05856" y="1837944"/>
            <a:ext cx="2907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 3 contactos en acuicultura o industria pesquera bajo presión regulatoria o de certificación ambiental.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127248"/>
            <a:ext cx="3977640" cy="1463040"/>
          </a:xfrm>
          <a:prstGeom prst="rect">
            <a:avLst/>
          </a:prstGeom>
          <a:solidFill>
            <a:srgbClr val="FFF3EE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27248"/>
            <a:ext cx="73152" cy="1463040"/>
          </a:xfrm>
          <a:prstGeom prst="rect">
            <a:avLst/>
          </a:prstGeom>
          <a:solidFill>
            <a:srgbClr val="FD6925"/>
          </a:solidFill>
          <a:ln w="12700">
            <a:solidFill>
              <a:srgbClr val="FD692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3419856"/>
            <a:ext cx="658368" cy="658368"/>
          </a:xfrm>
          <a:prstGeom prst="ellipse">
            <a:avLst/>
          </a:prstGeom>
          <a:solidFill>
            <a:srgbClr val="FD6925">
              <a:alpha val="25000"/>
            </a:srgbClr>
          </a:solidFill>
          <a:ln w="12700">
            <a:solidFill>
              <a:srgbClr val="FD692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41985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08176" y="32552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69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08176" y="3566160"/>
            <a:ext cx="2907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arquitectura del MVP: intake → Claude API → PDF. Stack Next.js + Supabase. Tiempo de build: 3-4 semanas. Empieza.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3127248"/>
            <a:ext cx="3977640" cy="1463040"/>
          </a:xfrm>
          <a:prstGeom prst="rect">
            <a:avLst/>
          </a:prstGeom>
          <a:solidFill>
            <a:srgbClr val="EEF6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127248"/>
            <a:ext cx="73152" cy="1463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19472" y="3419856"/>
            <a:ext cx="658368" cy="658368"/>
          </a:xfrm>
          <a:prstGeom prst="ellipse">
            <a:avLst/>
          </a:prstGeom>
          <a:solidFill>
            <a:srgbClr val="2E86C1">
              <a:alpha val="25000"/>
            </a:srgbClr>
          </a:solidFill>
          <a:ln w="12700">
            <a:solidFill>
              <a:srgbClr val="2E86C1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41985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705856" y="32552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05856" y="3566160"/>
            <a:ext cx="2907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7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Reunión de 90 minutos: validar ICP, definir el primer servicio y alinear el pitch de venta. Esta semana.</a:t>
            </a:r>
            <a:endParaRPr lang="en-US" sz="105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4736592"/>
            <a:ext cx="1600200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"/>
            <a:ext cx="5029200" cy="5029200"/>
          </a:xfrm>
          <a:prstGeom prst="ellipse">
            <a:avLst/>
          </a:prstGeom>
          <a:solidFill>
            <a:srgbClr val="56C02B">
              <a:alpha val="18000"/>
            </a:srgbClr>
          </a:solidFill>
          <a:ln w="12700">
            <a:solidFill>
              <a:srgbClr val="56C02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097280"/>
            <a:ext cx="4572000" cy="4572000"/>
          </a:xfrm>
          <a:prstGeom prst="ellipse">
            <a:avLst/>
          </a:prstGeom>
          <a:solidFill>
            <a:srgbClr val="26BDE2">
              <a:alpha val="20000"/>
            </a:srgbClr>
          </a:solidFill>
          <a:ln w="12700">
            <a:solidFill>
              <a:srgbClr val="26BD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3474720"/>
            <a:ext cx="2926080" cy="2926080"/>
          </a:xfrm>
          <a:prstGeom prst="ellipse">
            <a:avLst/>
          </a:prstGeom>
          <a:solidFill>
            <a:srgbClr val="FCC30B">
              <a:alpha val="17000"/>
            </a:srgbClr>
          </a:solidFill>
          <a:ln w="12700">
            <a:solidFill>
              <a:srgbClr val="FCC3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7724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economía circular
</a:t>
            </a:r>
            <a:pPr algn="ctr" indent="0" marL="0">
              <a:buNone/>
            </a:pPr>
            <a:r>
              <a:rPr lang="en-US" sz="4300" b="1" dirty="0">
                <a:solidFill>
                  <a:srgbClr val="C8F5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 un argumento </a:t>
            </a:r>
            <a:pPr algn="ctr" indent="0" marL="0">
              <a:buNone/>
            </a:pPr>
            <a:r>
              <a:rPr lang="en-US" sz="4300" b="1" dirty="0">
                <a:solidFill>
                  <a:srgbClr val="FCC3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negocio.</a:t>
            </a:r>
            <a:endParaRPr lang="en-US" sz="4300" dirty="0"/>
          </a:p>
        </p:txBody>
      </p:sp>
      <p:sp>
        <p:nvSpPr>
          <p:cNvPr id="6" name="Text 4"/>
          <p:cNvSpPr/>
          <p:nvPr/>
        </p:nvSpPr>
        <p:spPr>
          <a:xfrm>
            <a:off x="1371600" y="3337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4C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 coste. No una obligación.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767328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2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ventaja competitiva real para empresas que quieran seguir en el mercado.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93008" y="4370832"/>
            <a:ext cx="164592" cy="164592"/>
          </a:xfrm>
          <a:prstGeom prst="ellipse">
            <a:avLst/>
          </a:prstGeom>
          <a:solidFill>
            <a:srgbClr val="FD6925"/>
          </a:solidFill>
          <a:ln w="12700">
            <a:solidFill>
              <a:srgbClr val="FD692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13632" y="4370832"/>
            <a:ext cx="164592" cy="164592"/>
          </a:xfrm>
          <a:prstGeom prst="ellipse">
            <a:avLst/>
          </a:prstGeom>
          <a:solidFill>
            <a:srgbClr val="FCC30B"/>
          </a:solidFill>
          <a:ln w="12700">
            <a:solidFill>
              <a:srgbClr val="FCC30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4256" y="4370832"/>
            <a:ext cx="164592" cy="164592"/>
          </a:xfrm>
          <a:prstGeom prst="ellipse">
            <a:avLst/>
          </a:prstGeom>
          <a:solidFill>
            <a:srgbClr val="56C02B"/>
          </a:solidFill>
          <a:ln w="12700">
            <a:solidFill>
              <a:srgbClr val="56C02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4370832"/>
            <a:ext cx="164592" cy="164592"/>
          </a:xfrm>
          <a:prstGeom prst="ellipse">
            <a:avLst/>
          </a:prstGeom>
          <a:solidFill>
            <a:srgbClr val="26BDE2"/>
          </a:solidFill>
          <a:ln w="12700">
            <a:solidFill>
              <a:srgbClr val="26BDE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75504" y="4370832"/>
            <a:ext cx="164592" cy="16459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4645152"/>
            <a:ext cx="3657600" cy="8503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CIRQLR — Plan de Negocio 2026</dc:title>
  <dc:subject>PptxGenJS Presentation</dc:subject>
  <dc:creator>PptxGenJS</dc:creator>
  <cp:lastModifiedBy>PptxGenJS</cp:lastModifiedBy>
  <cp:revision>1</cp:revision>
  <dcterms:created xsi:type="dcterms:W3CDTF">2026-03-12T16:50:30Z</dcterms:created>
  <dcterms:modified xsi:type="dcterms:W3CDTF">2026-03-12T16:50:30Z</dcterms:modified>
</cp:coreProperties>
</file>